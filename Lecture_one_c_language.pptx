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731520"/>
            <a:ext cx="2103120" cy="2103120"/>
          </a:xfrm>
          <a:prstGeom prst="ellipse">
            <a:avLst/>
          </a:prstGeom>
          <a:solidFill>
            <a:srgbClr val="2A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645920"/>
            <a:ext cx="1097280" cy="1097280"/>
          </a:xfrm>
          <a:prstGeom prst="ellipse">
            <a:avLst/>
          </a:prstGeom>
          <a:solidFill>
            <a:srgbClr val="F0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C LANGUAGE</a:t>
            </a:r>
          </a:p>
          <a:p>
            <a:r>
              <a:rPr sz="2200">
                <a:solidFill>
                  <a:srgbClr val="DAE8F2"/>
                </a:solidFill>
                <a:latin typeface="Aptos"/>
              </a:rPr>
              <a:t>A professional introduction for first-year Computer Science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7132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What C is and why it matters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Where it is used in real life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How relevant it remains today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Basic syntax and beginner-friendly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D2DCE6"/>
                </a:solidFill>
                <a:latin typeface="Aptos"/>
              </a:rPr>
              <a:t>Prepared for introductory programming courses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Learning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Define the C programming language and its core characteristics.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Recognize where C is used in systems, devices, and applications.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Understand why C is still taught in universities and used in industry.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Read and write small C programs using variables, conditions, loops, and functions.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Build a foundation for later study in data structures, operating systems, and embedded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What students should 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Course mindset:
1. Read the code carefully
2. Compile and test often
3. Focus on logic, not memorization
4. Learn how memory and instructions work
5. Write simple, correct programs 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What is 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C is a general-purpose, procedural programming language created in the early 1970s.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It was designed for writing efficient software close to the hardware.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C gives programmers direct control over memory, data representation, and performance.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Many modern languages and systems are influenced by C syntax and ideas.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Because of its simplicity and power, C remains a core language in Computer Science education.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Minimal C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#include &lt;stdio.h&gt;
int main(void) {
    printf("C is fast, portable, and close to hardware.\n");
    return 0;
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A short history of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C was developed by Dennis Ritchie at Bell Labs.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It evolved from earlier languages such as BCPL and B.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C became widely known because it was used to implement the UNIX operating system.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Standardization made C portable across many computers and platforms.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Today, C standards continue to evolve while keeping the language small and efficient.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Key milestones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Timeline
1972  -&gt; C created at Bell Labs
1978  -&gt; "The C Programming Language" book
1989  -&gt; ANSI C standard
1999  -&gt; C99 update
2011+ -&gt; Modern revisions continue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Why universities still teach C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It exposes how programs interact with memory, variables, and the CPU.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Students learn how compilation works instead of relying only on high-level tools.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C helps build strong fundamentals for algorithms, data structures, and operating systems.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Its syntax is concise, so core programming constructs are easy to identify.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Understanding C makes it easier to learn C++, Java, JavaScript, Go, Rust, and many other languages later.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Foundational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Core learning outcomes
- data types
- control flow
- functions
- pointers
- arrays
- manual thinking about memory
- performance awareness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Main characteristics of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2926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34439"/>
            <a:ext cx="26060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A42"/>
                </a:solidFill>
                <a:latin typeface="Aptos"/>
              </a:rPr>
              <a:t>Procedural</a:t>
            </a:r>
          </a:p>
          <a:p>
            <a:r>
              <a:rPr sz="1300">
                <a:solidFill>
                  <a:srgbClr val="232323"/>
                </a:solidFill>
                <a:latin typeface="Aptos"/>
              </a:rPr>
              <a:t>Programs are organized as statements and functions.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097280"/>
            <a:ext cx="2926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2" y="1234439"/>
            <a:ext cx="26060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A42"/>
                </a:solidFill>
                <a:latin typeface="Aptos"/>
              </a:rPr>
              <a:t>Compiled</a:t>
            </a:r>
          </a:p>
          <a:p>
            <a:r>
              <a:rPr sz="1300">
                <a:solidFill>
                  <a:srgbClr val="232323"/>
                </a:solidFill>
                <a:latin typeface="Aptos"/>
              </a:rPr>
              <a:t>Source code is translated into machine code before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097280"/>
            <a:ext cx="2926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1234439"/>
            <a:ext cx="26060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A42"/>
                </a:solidFill>
                <a:latin typeface="Aptos"/>
              </a:rPr>
              <a:t>Portable</a:t>
            </a:r>
          </a:p>
          <a:p>
            <a:r>
              <a:rPr sz="1300">
                <a:solidFill>
                  <a:srgbClr val="232323"/>
                </a:solidFill>
                <a:latin typeface="Aptos"/>
              </a:rPr>
              <a:t>The same program can often be compiled on many platforms.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2926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520440"/>
            <a:ext cx="26060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A42"/>
                </a:solidFill>
                <a:latin typeface="Aptos"/>
              </a:rPr>
              <a:t>Efficient</a:t>
            </a:r>
          </a:p>
          <a:p>
            <a:r>
              <a:rPr sz="1300">
                <a:solidFill>
                  <a:srgbClr val="232323"/>
                </a:solidFill>
                <a:latin typeface="Aptos"/>
              </a:rPr>
              <a:t>C is known for low runtime overhead and fine performance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383280"/>
            <a:ext cx="2926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3520440"/>
            <a:ext cx="26060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A42"/>
                </a:solidFill>
                <a:latin typeface="Aptos"/>
              </a:rPr>
              <a:t>Low-level access</a:t>
            </a:r>
          </a:p>
          <a:p>
            <a:r>
              <a:rPr sz="1300">
                <a:solidFill>
                  <a:srgbClr val="232323"/>
                </a:solidFill>
                <a:latin typeface="Aptos"/>
              </a:rPr>
              <a:t>Pointers and memory operations let programmers work close to the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383280"/>
            <a:ext cx="2926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2" y="3520440"/>
            <a:ext cx="26060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A42"/>
                </a:solidFill>
                <a:latin typeface="Aptos"/>
              </a:rPr>
              <a:t>Small core</a:t>
            </a:r>
          </a:p>
          <a:p>
            <a:r>
              <a:rPr sz="1300">
                <a:solidFill>
                  <a:srgbClr val="232323"/>
                </a:solidFill>
                <a:latin typeface="Aptos"/>
              </a:rPr>
              <a:t>The language itself is relatively compact compared with many modern languages.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How C is used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Operating systems and kernels: core parts of Linux, Windows components, and device software.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Embedded systems: microcontrollers in cars, routers, medical devices, and industrial machines.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Compilers and interpreters: language tools often depend on C for speed and portability.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Databases and servers: performance-critical components frequently use C.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Libraries and runtimes: many graphics, networking, cryptography, and system libraries are written in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Typical use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Real-world examples
- Linux kernel components
- Git and SQLite internals
- CPython interpreter parts
- firmware for sensors and IoT
- networking stacks
- graphics and audio libraries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Examples of devices and systems that depend on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Smart appliances and IoT boards use C because resources are limited.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Automotive control units need predictable performance and direct hardware access.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Telecommunication equipment relies on fast, stable low-level code.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Robotics and industrial controllers often use C in firmware layers.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Operating system utilities and command-line tools are frequently built in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Why engineers choose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Why C fits these systems
1. small memory footprint
2. fast execution
3. deterministic behavior
4. access to registers and devices
5. mature compilers and tooling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Why C is still popular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C remains essential wherever software must be fast, lightweight, and close to the hardware.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It is still one of the most visible languages in programming popularity rankings.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It is heavily used in education, embedded computing, systems programming, and open-source infrastructure.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Learning C gives students a mental model for memory, performance, and how computers actually execute code.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Even when developers use higher-level languages, many important libraries underneath are still written in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Current 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Selected current indicators
- TIOBE Feb 2026: C ranked #2
- Stack Overflow 2025: C used by 22% of all respondents
- Stack Overflow 2025: C used by 48% of learners
- C remains central in embedded and systems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Typical C development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Write source code in a text editor or IDE.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Compile the source code with a compiler such as GCC or Clang.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Fix syntax or logic errors reported during compilation or testing.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Run the executable and verify the output.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Repeat this cycle as the program becomes more complex.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Terminal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Example commands
# compile
gcc main.c -o main
# run
./main
# another compiler
clang main.c -o main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Basic structure of a C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Preprocessor directives start with # and include libraries.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The main() function is the program entry point.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Statements end with a semicolon.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Curly braces { } group blocks of code.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Functions help organize code into reusable parts.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Program anatomy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#include &lt;stdio.h&gt;
int main(void) {
    printf("Welcome to C!\n");
    return 0;
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Variables and common data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Variables store values that may change while the program runs.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Common C data types include int, float, double, char, and arrays.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Each variable must be declared before it is used.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The selected type affects memory size, value range, and operations.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Good variable names improve readability and maintainability.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Declarations and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int age = 18;
float grade = 9.5f;
char letter = 'A';
printf("Age: %d\n", age);
printf("Grade: %.1f\n", grade);
printf("Letter: %c\n", letter);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Decision making with if and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Conditions let a program choose between different actions.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The if statement is useful for true/false decisions.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The else branch handles alternative logic.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The switch statement is useful when comparing one variable against many fixed values.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Relational operators include ==, !=, &lt;, &gt;, &lt;=, and &gt;=.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Conditional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int score = 75;
if (score &gt;= 60) {
    printf("Pass\n");
} else {
    printf("Fail\n");
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Repetition with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Loops allow a block of code to run multiple times.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for loops are ideal when the number of repetitions is known.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while loops are useful when repetition depends on a condition.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Loop control is central to algorithms, data processing, and simulations.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Careful loop design helps avoid infinite loops and logic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Loop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for (int i = 1; i &lt;= 5; i++) {
    printf("Number: %d\n", i);
}
int j = 1;
while (j &lt;= 3) {
    printf("j = %d\n", j);
    j++;
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Functions and modular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Functions divide a program into smaller, reusable tasks.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A function can receive input parameters and return a value.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Using functions improves readability, testing, and maintenance.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Modular thinking is a major habit in professional software development.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In C, function declarations and definitions must match carefully.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Function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int add(int a, int b) {
    return a + b;
}
int main(void) {
    int result = add(4, 6);
    printf("%d\n", result);
    return 0;
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Arrays and pointers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An array stores multiple values of the same type in contiguous memory.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A pointer stores the address of another variable.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Pointers are powerful because they allow direct memory access and efficient data manipulation.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Arrays and pointers are closely related in C and are essential for advanced programming.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Students should learn them carefully because they are useful but error-prone when misused.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Memory-oriented 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int values[3] = {10, 20, 30};
int *p = values;
printf("%d\n", values[0]);
printf("%d\n", *p);
printf("%d\n", *(p + 1));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Small practical example: sum of two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This program reads two integers from the user.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It stores them in variables, adds them, and prints the result.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The example combines input, processing, and output.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This pattern is a foundation for larger software systems.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Always test with different values to confirm correct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Complete beginner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#include &lt;stdio.h&gt;
int main(void) {
    int a, b, sum;
    printf("Enter two numbers: ");
    scanf("%d %d", &amp;a, &amp;b);
    sum = a + b;
    printf("Sum = %d\n", sum);
    return 0;
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Good habits for beginners in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66928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Use meaningful variable and function names.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Indent code consistently and keep blocks readable.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Compile often and fix warnings early.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Test small parts of the program before building larger ones.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Comment important logic, but do not comment every obvious line.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Be careful with pointers, array bounds, and input handling.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Aim for correct, simple programs before optimizing.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25880"/>
            <a:ext cx="4754880" cy="438912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554480"/>
            <a:ext cx="4343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E7D32"/>
                </a:solidFill>
                <a:latin typeface="Aptos"/>
              </a:defRPr>
            </a:pPr>
            <a:r>
              <a:t>Do</a:t>
            </a:r>
          </a:p>
          <a:p>
            <a:pPr>
              <a:spcAft>
                <a:spcPts val="600"/>
              </a:spcAft>
              <a:defRPr sz="1600" b="0">
                <a:solidFill>
                  <a:srgbClr val="232323"/>
                </a:solidFill>
                <a:latin typeface="Aptos"/>
              </a:defRPr>
            </a:pPr>
            <a:r>
              <a:t>- write small test programs</a:t>
            </a:r>
          </a:p>
          <a:p>
            <a:pPr>
              <a:spcAft>
                <a:spcPts val="600"/>
              </a:spcAft>
              <a:defRPr sz="1600" b="0">
                <a:solidFill>
                  <a:srgbClr val="232323"/>
                </a:solidFill>
                <a:latin typeface="Aptos"/>
              </a:defRPr>
            </a:pPr>
            <a:r>
              <a:t>- read compiler messages</a:t>
            </a:r>
          </a:p>
          <a:p>
            <a:pPr>
              <a:spcAft>
                <a:spcPts val="600"/>
              </a:spcAft>
              <a:defRPr sz="1600" b="0">
                <a:solidFill>
                  <a:srgbClr val="232323"/>
                </a:solidFill>
                <a:latin typeface="Aptos"/>
              </a:defRPr>
            </a:pPr>
            <a:r>
              <a:t>- trace values step by step</a:t>
            </a:r>
          </a:p>
          <a:p>
            <a:pPr>
              <a:spcAft>
                <a:spcPts val="600"/>
              </a:spcAft>
              <a:defRPr sz="1800" b="1">
                <a:solidFill>
                  <a:srgbClr val="C62828"/>
                </a:solidFill>
                <a:latin typeface="Aptos"/>
              </a:defRPr>
            </a:pPr>
            <a:r>
              <a:t>Avoid</a:t>
            </a:r>
          </a:p>
          <a:p>
            <a:pPr>
              <a:spcAft>
                <a:spcPts val="600"/>
              </a:spcAft>
              <a:defRPr sz="1600" b="0">
                <a:solidFill>
                  <a:srgbClr val="232323"/>
                </a:solidFill>
                <a:latin typeface="Aptos"/>
              </a:defRPr>
            </a:pPr>
            <a:r>
              <a:t>- copying code without understanding it</a:t>
            </a:r>
          </a:p>
          <a:p>
            <a:pPr>
              <a:spcAft>
                <a:spcPts val="600"/>
              </a:spcAft>
              <a:defRPr sz="1600" b="0">
                <a:solidFill>
                  <a:srgbClr val="232323"/>
                </a:solidFill>
                <a:latin typeface="Aptos"/>
              </a:defRPr>
            </a:pPr>
            <a:r>
              <a:t>- ignoring warnings</a:t>
            </a:r>
          </a:p>
          <a:p>
            <a:pPr>
              <a:spcAft>
                <a:spcPts val="600"/>
              </a:spcAft>
              <a:defRPr sz="1600" b="0">
                <a:solidFill>
                  <a:srgbClr val="232323"/>
                </a:solidFill>
                <a:latin typeface="Aptos"/>
              </a:defRPr>
            </a:pPr>
            <a:r>
              <a:t>- writing everything in one huge function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4864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C is one of the foundational programming languages of Computer Science.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It is still important in systems programming, embedded development, and performance-critical software.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Its popularity today comes from efficiency, portability, and educational value.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Beginners should focus on syntax, logic, problem solving, and memory awareness.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Mastering C gives students a powerful base for learning many other technologies.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384048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441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2A42"/>
                </a:solidFill>
                <a:latin typeface="Aptos"/>
              </a:rPr>
              <a:t>Recommended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783080"/>
            <a:ext cx="499262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ourier New"/>
              </a:rPr>
              <a:t>Next steps for students
1. Install a compiler
2. Write Hello World
3. Practice variables and loops
4. Solve small problems daily
5. Learn arrays, functions, and pointers gradually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References and current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5544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CE6F0"/>
                </a:solidFill>
                <a:latin typeface="Aptos"/>
              </a:rPr>
              <a:t>Selected sources for slide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4710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  <a:latin typeface="Aptos"/>
              </a:rPr>
              <a:t>Introduction to C Language | First-year Computer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107899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Dennis M. Ritchie and Brian W. Kernighan, The C Programming Language.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TIOBE Index for February 2026: C ranked #2 overall.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Stack Overflow Developer Survey 2025: C reported by 22% of all respondents and 48% of learners.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General curriculum topics used in introductory university programming courses.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22A42"/>
                </a:solidFill>
                <a:latin typeface="Aptos"/>
              </a:rPr>
              <a:t>Suggested classroom use: introductory lecture, first lab orientation, or revision session before basic programming exercises.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