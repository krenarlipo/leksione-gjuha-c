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0"/>
            <a:ext cx="182880" cy="6858000"/>
          </a:xfrm>
          <a:prstGeom prst="rect">
            <a:avLst/>
          </a:prstGeom>
          <a:solidFill>
            <a:srgbClr val="EA6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1430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949"/>
                </a:solidFill>
                <a:latin typeface="Aptos Display"/>
              </a:rPr>
              <a:t>Chapter 2
Introduction to C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14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A619A"/>
                </a:solidFill>
                <a:latin typeface="Aptos"/>
              </a:rPr>
              <a:t>Professional PowerPoint for first-year Computer Science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3657600"/>
            <a:ext cx="8229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3931920"/>
            <a:ext cx="7695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232323"/>
                </a:solidFill>
                <a:latin typeface="Aptos"/>
              </a:rPr>
              <a:t>Focus: program structure, output, input, variables, arithmetic, and simple decision making in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57607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570"/>
                </a:solidFill>
                <a:latin typeface="Aptos"/>
              </a:rPr>
              <a:t>Source: C: How to Program (6th Edition), Chapter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What students should understand after this chapter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07040" cy="4846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Explain the purpose of a basic C program and identify its main parts.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Use printf to display text and understand common escape sequences such as \n.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Use scanf to read integer input from the keyboard.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Describe variables as named memory locations with a data type and a current value.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Perform arithmetic with +, -, *, / and % and apply operator precedence correctly.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Write simple decision logic with if, equality operators and relational operators.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This chapter is the bridge from reading code to writing small interactive C programs.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Chapter 2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Section-by-section structure of the chapter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657600" cy="502920"/>
          </a:xfrm>
          <a:prstGeom prst="roundRect">
            <a:avLst/>
          </a:prstGeom>
          <a:solidFill>
            <a:srgbClr val="0C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14300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Concepts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51560"/>
            <a:ext cx="6995160" cy="502920"/>
          </a:xfrm>
          <a:prstGeom prst="round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143000"/>
            <a:ext cx="6812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338328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2.1 Introduction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2.2 Printing a line of text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2.3 Adding two integers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2.4 Memory concepts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2.5 Arithmetic in C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2.6 Equality and relational 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691640"/>
            <a:ext cx="649224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First full C program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Using printf with strings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Reading input with scanf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Storing values in variables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Computing sums and other expressions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Testing conditions with 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4068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55040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Pedagogical pattern in the book: introduce a complete program, then analyze it line by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The First C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A minimal program that prints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2920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Every C program starts execution in main.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The #include directive brings in declarations for standard input/output functions.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printf displays output on the screen.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return 0 signals successful program termination.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5349240" cy="4389120"/>
          </a:xfrm>
          <a:prstGeom prst="roundRect">
            <a:avLst/>
          </a:prstGeom>
          <a:solidFill>
            <a:srgbClr val="FCFCFC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80" y="1143000"/>
            <a:ext cx="5349240" cy="411480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207008"/>
            <a:ext cx="5074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Minimal C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673352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urier New"/>
              </a:defRPr>
            </a:pPr>
            <a:r>
              <a:t>#include &lt;stdio.h&gt;</a:t>
            </a:r>
            <a:br/>
            <a:br/>
            <a:r>
              <a:t>int main(void)</a:t>
            </a:r>
            <a:br/>
            <a:r>
              <a:t>{</a:t>
            </a:r>
            <a:br/>
            <a:r>
              <a:t>    printf("Welcome to C!\n");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Even this tiny example introduces core C syntax: directives, functions, braces, statements and semicolons.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Program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Reading C code with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657600" cy="621792"/>
          </a:xfrm>
          <a:prstGeom prst="roundRect">
            <a:avLst/>
          </a:prstGeom>
          <a:solidFill>
            <a:srgbClr val="EA6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4416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Comment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28016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32323"/>
                </a:solidFill>
                <a:latin typeface="Aptos"/>
              </a:rPr>
              <a:t>Explains intent to humans; ignored by the compiler.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3657600" cy="621792"/>
          </a:xfrm>
          <a:prstGeom prst="round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#include &lt;stdio.h&gt;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1168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32323"/>
                </a:solidFill>
                <a:latin typeface="Aptos"/>
              </a:rPr>
              <a:t>Makes standard I/O functions like printf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3657600" cy="621792"/>
          </a:xfrm>
          <a:prstGeom prst="roundRect">
            <a:avLst/>
          </a:prstGeom>
          <a:solidFill>
            <a:srgbClr val="0C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80720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int main(void)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4320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32323"/>
                </a:solidFill>
                <a:latin typeface="Aptos"/>
              </a:rPr>
              <a:t>Defines the main function that starts the program.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3657600" cy="621792"/>
          </a:xfrm>
          <a:prstGeom prst="roundRect">
            <a:avLst/>
          </a:prstGeom>
          <a:solidFill>
            <a:srgbClr val="348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53872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{ ...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47472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32323"/>
                </a:solidFill>
                <a:latin typeface="Aptos"/>
              </a:rPr>
              <a:t>Braces define the function body, also called a block.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3657600" cy="621792"/>
          </a:xfrm>
          <a:prstGeom prst="round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27024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Statement 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06240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32323"/>
                </a:solidFill>
                <a:latin typeface="Aptos"/>
              </a:rPr>
              <a:t>A complete instruction ends with a semicolon.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3657600" cy="621792"/>
          </a:xfrm>
          <a:prstGeom prst="roundRect">
            <a:avLst/>
          </a:prstGeom>
          <a:solidFill>
            <a:srgbClr val="EA6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00176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return 0;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937759"/>
            <a:ext cx="6583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32323"/>
                </a:solidFill>
                <a:latin typeface="Aptos"/>
              </a:rPr>
              <a:t>Returns a success status to the operating system.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53212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6418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For beginners, syntax matters: misplaced braces, missing semicolons, or wrong capitalization can prevent compilation.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Output with printf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Displaying text and controlling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30352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printf prints a format string to standard output.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Text inside double quotes is called a string literal.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\n moves the cursor to a new line.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Other common escapes: \t for tab, \\ for a backslash, and \" for a double quote.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212080" cy="1828800"/>
          </a:xfrm>
          <a:prstGeom prst="roundRect">
            <a:avLst/>
          </a:prstGeom>
          <a:solidFill>
            <a:srgbClr val="FCFCFC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212080" cy="411480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25272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719072"/>
            <a:ext cx="4892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urier New"/>
              </a:defRPr>
            </a:pPr>
            <a:r>
              <a:t>printf("Welcome to C!\n");</a:t>
            </a:r>
            <a:br/>
            <a:r>
              <a:t>printf("Welcome\nto\nC!\n");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91840"/>
            <a:ext cx="5212080" cy="1645920"/>
          </a:xfrm>
          <a:prstGeom prst="roundRect">
            <a:avLst/>
          </a:prstGeom>
          <a:solidFill>
            <a:srgbClr val="F5F8FA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3493008"/>
            <a:ext cx="47548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32323"/>
                </a:solidFill>
                <a:latin typeface="Courier New"/>
              </a:rPr>
              <a:t>Output:
Welcome to C!
Welcome
to
C!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Key idea: the text usually prints exactly as written, except when escape sequences change the behavior.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Input with scanf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Reading data from the keyboard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30352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scanf reads formatted input from standard input.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%d tells scanf to expect an integer.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&amp;integer1 gives the address where the input value should be stored.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The variable must be declared before it is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212080" cy="1965960"/>
          </a:xfrm>
          <a:prstGeom prst="roundRect">
            <a:avLst/>
          </a:prstGeom>
          <a:solidFill>
            <a:srgbClr val="FCFCFC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72200" y="1143000"/>
            <a:ext cx="5212080" cy="411480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20700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Reading one integer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673352"/>
            <a:ext cx="4892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urier New"/>
              </a:defRPr>
            </a:pPr>
            <a:r>
              <a:t>int integer1;</a:t>
            </a:r>
            <a:br/>
            <a:r>
              <a:t>printf("Enter first integer\n");</a:t>
            </a:r>
            <a:br/>
            <a:r>
              <a:t>scanf("%d", &amp;integer1);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49039"/>
            <a:ext cx="1417320" cy="713232"/>
          </a:xfrm>
          <a:prstGeom prst="roundRect">
            <a:avLst/>
          </a:prstGeom>
          <a:solidFill>
            <a:srgbClr val="EA6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3877056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User types 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749039"/>
            <a:ext cx="1417320" cy="713232"/>
          </a:xfrm>
          <a:prstGeom prst="round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3877056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scanf converts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3749039"/>
            <a:ext cx="1417320" cy="713232"/>
          </a:xfrm>
          <a:prstGeom prst="roundRect">
            <a:avLst/>
          </a:prstGeom>
          <a:solidFill>
            <a:srgbClr val="0C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9488" y="3877056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value stored in integer1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Students often forget the &amp;: scanf usually needs the address of the variable where the result will be stored.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Example Program: Adding Two Integers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Combining input, processing, and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5669280" cy="4480560"/>
          </a:xfrm>
          <a:prstGeom prst="roundRect">
            <a:avLst/>
          </a:prstGeom>
          <a:solidFill>
            <a:srgbClr val="FCFCFC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5669280" cy="411480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207008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Core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673352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urier New"/>
              </a:defRPr>
            </a:pPr>
            <a:r>
              <a:t>int integer1, integer2, sum;</a:t>
            </a:r>
            <a:br/>
            <a:br/>
            <a:r>
              <a:t>printf("Enter two integers: ");</a:t>
            </a:r>
            <a:br/>
            <a:r>
              <a:t>scanf("%d%d", &amp;integer1, &amp;integer2);</a:t>
            </a:r>
            <a:br/>
            <a:br/>
            <a:r>
              <a:t>sum = integer1 + integer2;</a:t>
            </a:r>
            <a:br/>
            <a:r>
              <a:t>printf("Sum is %d\n", sum);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4754880" cy="4297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This is a classic IPO pattern: Input -&gt; Process -&gt; Output.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Two values are read, added, and the result is displayed.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The format specifier %d is used in both scanf and printf for integers.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A variable can store the result of a calculation for later reuse.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3212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6418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This program is small, but it models how many larger programs are structured.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Variables and Memory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Why data must be stored in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12064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A variable is a named location in memory.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It has a type, such as int, that constrains what kind of value it stores.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Assignment replaces the current value with a new one.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Reading a value is nondestructive: using it in a calculation does not erase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44805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645920"/>
            <a:ext cx="1828800" cy="658368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177393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integer1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645920"/>
            <a:ext cx="1737360" cy="658368"/>
          </a:xfrm>
          <a:prstGeom prst="rect">
            <a:avLst/>
          </a:prstGeom>
          <a:solidFill>
            <a:srgbClr val="EDF2F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89720" y="177393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232323"/>
                </a:solidFill>
                <a:latin typeface="Courier New"/>
              </a:rPr>
              <a:t>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2560320"/>
            <a:ext cx="1828800" cy="658368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268833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integer2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2560320"/>
            <a:ext cx="1737360" cy="658368"/>
          </a:xfrm>
          <a:prstGeom prst="rect">
            <a:avLst/>
          </a:prstGeom>
          <a:solidFill>
            <a:srgbClr val="EDF2F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20" y="268833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232323"/>
                </a:solidFill>
                <a:latin typeface="Courier New"/>
              </a:rPr>
              <a:t>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3474720"/>
            <a:ext cx="1828800" cy="658368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360273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sum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3474720"/>
            <a:ext cx="1737360" cy="658368"/>
          </a:xfrm>
          <a:prstGeom prst="rect">
            <a:avLst/>
          </a:prstGeom>
          <a:solidFill>
            <a:srgbClr val="EDF2F8"/>
          </a:solidFill>
          <a:ln>
            <a:solidFill>
              <a:srgbClr val="B4B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3602736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232323"/>
                </a:solidFill>
                <a:latin typeface="Courier New"/>
              </a:rPr>
              <a:t>117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526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i="1">
                <a:solidFill>
                  <a:srgbClr val="5A6570"/>
                </a:solidFill>
                <a:latin typeface="Aptos"/>
              </a:rPr>
              <a:t>Simplified memory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Thinking in terms of memory helps students understand why declaration, assignment and input matter.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Arithmetic 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Core operators used in beginner programs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1645920" cy="50292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53312"/>
            <a:ext cx="14996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Operator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83664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Courier New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737360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1883664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Aptos"/>
              </a:rPr>
              <a:t>Addition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737360"/>
            <a:ext cx="5029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1883664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232323"/>
                </a:solidFill>
                <a:latin typeface="Courier New"/>
              </a:rPr>
              <a:t>sum = a + b;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377439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523744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Courier New"/>
              </a:rPr>
              <a:t>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377439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9232" y="2523744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Aptos"/>
              </a:rPr>
              <a:t>Subtraction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377439"/>
            <a:ext cx="5029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59552" y="2523744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232323"/>
                </a:solidFill>
                <a:latin typeface="Courier New"/>
              </a:rPr>
              <a:t>diff = a - b;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017520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163824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Courier New"/>
              </a:rPr>
              <a:t>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017520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99232" y="3163824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Aptos"/>
              </a:rPr>
              <a:t>Multiplication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3017520"/>
            <a:ext cx="5029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59552" y="3163824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232323"/>
                </a:solidFill>
                <a:latin typeface="Courier New"/>
              </a:rPr>
              <a:t>prod = a * b;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657599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3803903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Courier New"/>
              </a:rPr>
              <a:t>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657599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99232" y="3803903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Aptos"/>
              </a:rPr>
              <a:t>Division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657599"/>
            <a:ext cx="5029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59552" y="3803903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232323"/>
                </a:solidFill>
                <a:latin typeface="Courier New"/>
              </a:rPr>
              <a:t>q = a / b;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297679"/>
            <a:ext cx="16459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4443983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Courier New"/>
              </a:rPr>
              <a:t>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4297679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99232" y="4443983"/>
            <a:ext cx="20482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232323"/>
                </a:solidFill>
                <a:latin typeface="Aptos"/>
              </a:rPr>
              <a:t>Remainder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4297679"/>
            <a:ext cx="50292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59552" y="4443983"/>
            <a:ext cx="4882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232323"/>
                </a:solidFill>
                <a:latin typeface="Courier New"/>
              </a:rPr>
              <a:t>r = a % b;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Important beginner detail: % works with integers and gives the remainder after division.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Operator Precedence and Associativity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Why parentheses often improve correctness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846320" cy="4114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Parentheses are evaluated first.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Then *, / and % are evaluated left to right.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Then + and - are evaluated left to right.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Use redundant parentheses when they improve readability.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234440"/>
            <a:ext cx="5394960" cy="2743200"/>
          </a:xfrm>
          <a:prstGeom prst="roundRect">
            <a:avLst/>
          </a:prstGeom>
          <a:solidFill>
            <a:srgbClr val="FCFCFC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0" y="1234440"/>
            <a:ext cx="5394960" cy="411480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08192" y="12984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764792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urier New"/>
              </a:defRPr>
            </a:pPr>
            <a:r>
              <a:t>m = (a + b + c + d + e) / 5;</a:t>
            </a:r>
            <a:br/>
            <a:r>
              <a:t>y = m * x + b;</a:t>
            </a:r>
            <a:br/>
            <a:r>
              <a:t>z = p * r % q + w / x - y;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389120"/>
            <a:ext cx="1828800" cy="347472"/>
          </a:xfrm>
          <a:prstGeom prst="roundRect">
            <a:avLst/>
          </a:prstGeom>
          <a:solidFill>
            <a:srgbClr val="EA6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445312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1. ( 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800600"/>
            <a:ext cx="1828800" cy="347472"/>
          </a:xfrm>
          <a:prstGeom prst="round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486460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2. * /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5212080"/>
            <a:ext cx="1828800" cy="347472"/>
          </a:xfrm>
          <a:prstGeom prst="roundRect">
            <a:avLst/>
          </a:prstGeom>
          <a:solidFill>
            <a:srgbClr val="0C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52760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3. + -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A frequent beginner mistake is forgetting parentheses in an average formula, which changes the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Decision Making with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Executing code only when a condition is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75488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An if statement checks a condition.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If the condition is true, the body runs.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If the condition is false, the body is skipped.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100">
                <a:solidFill>
                  <a:srgbClr val="232323"/>
                </a:solidFill>
                <a:latin typeface="Aptos"/>
              </a:defRPr>
            </a:pPr>
            <a:r>
              <a:t>Conditions use equality and relational operators.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234440"/>
            <a:ext cx="5303520" cy="2011680"/>
          </a:xfrm>
          <a:prstGeom prst="roundRect">
            <a:avLst/>
          </a:prstGeom>
          <a:solidFill>
            <a:srgbClr val="FCFCFC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5303520" cy="411480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53912" y="129844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Simple if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64792"/>
            <a:ext cx="4983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urier New"/>
              </a:defRPr>
            </a:pPr>
            <a:r>
              <a:t>if ( grade &gt;= 60 ) {</a:t>
            </a:r>
            <a:br/>
            <a:r>
              <a:t>    printf("Congratulations! You passed.\n");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657600"/>
            <a:ext cx="2377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3749039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Courier New"/>
              </a:rPr>
              <a:t>==  equal 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224528"/>
            <a:ext cx="2377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431596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Courier New"/>
              </a:rPr>
              <a:t>!=  not equal 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91456"/>
            <a:ext cx="2377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9632" y="488289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Courier New"/>
              </a:rPr>
              <a:t>&lt;  less than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657600"/>
            <a:ext cx="2377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05672" y="3749039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Courier New"/>
              </a:rPr>
              <a:t>&gt;  greater than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4224528"/>
            <a:ext cx="2377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05672" y="431596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Courier New"/>
              </a:rPr>
              <a:t>&lt;=  less than or equal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4791456"/>
            <a:ext cx="23774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05672" y="4882896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32323"/>
                </a:solidFill>
                <a:latin typeface="Courier New"/>
              </a:rPr>
              <a:t>&gt;=  greater than or equal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3212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6418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This is the first step toward control flow: the program no longer only follows a fixed sequence of statements.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Comparing Two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Using multiple if statements to report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6400800" cy="4480560"/>
          </a:xfrm>
          <a:prstGeom prst="roundRect">
            <a:avLst/>
          </a:prstGeom>
          <a:solidFill>
            <a:srgbClr val="FCFCFC"/>
          </a:solidFill>
          <a:ln>
            <a:solidFill>
              <a:srgbClr val="D2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6400800" cy="411480"/>
          </a:xfrm>
          <a:prstGeom prst="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252728"/>
            <a:ext cx="6126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Selected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6080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Courier New"/>
              </a:defRPr>
            </a:pPr>
            <a:r>
              <a:t>if (num1 == num2)</a:t>
            </a:r>
            <a:br/>
            <a:r>
              <a:t>    printf("%d is equal to %d\n", num1, num2);</a:t>
            </a:r>
            <a:br/>
            <a:br/>
            <a:r>
              <a:t>if (num1 &lt; num2)</a:t>
            </a:r>
            <a:br/>
            <a:r>
              <a:t>    printf("%d is less than %d\n", num1, num2);</a:t>
            </a:r>
            <a:br/>
            <a:br/>
            <a:r>
              <a:t>if (num1 &gt;= num2)</a:t>
            </a:r>
            <a:br/>
            <a:r>
              <a:t>    printf("%d is greater than or equal to %d\n", num1, num2);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280160"/>
            <a:ext cx="3931920" cy="42062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The user enters two integers.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Each if statement tests a different relationship.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More than one message can be true for the same pair of values.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For example, if two numbers are equal, both &lt;= and &gt;= are also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3212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6418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The chapter uses this example to connect conditions, operators and readable program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Common Beginner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Typical errors students should learn to spot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440680" cy="502920"/>
          </a:xfrm>
          <a:prstGeom prst="roundRect">
            <a:avLst/>
          </a:prstGeom>
          <a:solidFill>
            <a:srgbClr val="EA6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143000"/>
            <a:ext cx="5257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Syntax and formatting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303520" cy="502920"/>
          </a:xfrm>
          <a:prstGeom prst="round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1143000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Logic and runtime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5074920" cy="40233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Forgetting the semicolon at the end of a statement.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Using = instead of == inside a condition.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Forgetting the &amp; before a variable in scanf.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Misspelling function names such as printf or scanf.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4892040" cy="40233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Using the wrong format specifier for the data type.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Forgetting one of the double quotes in a string.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Placing declarations in the wrong place in older C examples.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900">
                <a:solidFill>
                  <a:srgbClr val="232323"/>
                </a:solidFill>
                <a:latin typeface="Aptos"/>
              </a:defRPr>
            </a:pPr>
            <a:r>
              <a:t>Writing expressions without needed parentheses.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A strong CS1 habit is to read compiler errors carefully and then inspect the exact line and surrounding punctuation.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Why Chapter 2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From toy programs to professional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33272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These ideas reappear in every programming language: input, output, variables, expressions and conditions.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C remains important in systems programming, embedded software, operating systems, compilers and performance-critical code.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Understanding C builds a strong mental model of how software interacts with memory and the machine.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200">
                <a:solidFill>
                  <a:srgbClr val="232323"/>
                </a:solidFill>
                <a:latin typeface="Aptos"/>
              </a:defRPr>
            </a:pPr>
            <a:r>
              <a:t>This chapter prepares students for structured programming, loops, functions and modular design in later chapters.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663440"/>
            <a:ext cx="2194560" cy="566928"/>
          </a:xfrm>
          <a:prstGeom prst="round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4828032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4663440"/>
            <a:ext cx="2194560" cy="566928"/>
          </a:xfrm>
          <a:prstGeom prst="roundRect">
            <a:avLst/>
          </a:prstGeom>
          <a:solidFill>
            <a:srgbClr val="0C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4828032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Embedded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63440"/>
            <a:ext cx="2194560" cy="566928"/>
          </a:xfrm>
          <a:prstGeom prst="roundRect">
            <a:avLst/>
          </a:prstGeom>
          <a:solidFill>
            <a:srgbClr val="2A6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4828032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Compilers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4663440"/>
            <a:ext cx="2194560" cy="566928"/>
          </a:xfrm>
          <a:prstGeom prst="roundRect">
            <a:avLst/>
          </a:prstGeom>
          <a:solidFill>
            <a:srgbClr val="EA6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81159" y="4828032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53212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6418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The goal is not only to memorize syntax, but to build computational thinking that transfers across languages.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 Display"/>
              </a:rPr>
              <a:t>Chapter 2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457200"/>
            <a:ext cx="8229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2DCEB"/>
                </a:solidFill>
                <a:latin typeface="Aptos"/>
              </a:rPr>
              <a:t>Key takeaways for first-year students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12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332720" cy="4389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232323"/>
                </a:solidFill>
                <a:latin typeface="Aptos"/>
              </a:defRPr>
            </a:pPr>
            <a:r>
              <a:t>A C program begins in main and is made of statements inside blocks.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232323"/>
                </a:solidFill>
                <a:latin typeface="Aptos"/>
              </a:defRPr>
            </a:pPr>
            <a:r>
              <a:t>printf displays output; scanf reads formatted input.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232323"/>
                </a:solidFill>
                <a:latin typeface="Aptos"/>
              </a:defRPr>
            </a:pPr>
            <a:r>
              <a:t>Variables store values in memory and have a specific type.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232323"/>
                </a:solidFill>
                <a:latin typeface="Aptos"/>
              </a:defRPr>
            </a:pPr>
            <a:r>
              <a:t>Arithmetic expressions follow operator precedence rules.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232323"/>
                </a:solidFill>
                <a:latin typeface="Aptos"/>
              </a:defRPr>
            </a:pPr>
            <a:r>
              <a:t>if statements allow programs to make simple decisions.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2300">
                <a:solidFill>
                  <a:srgbClr val="232323"/>
                </a:solidFill>
                <a:latin typeface="Aptos"/>
              </a:defRPr>
            </a:pPr>
            <a:r>
              <a:t>Careful attention to syntax is essential in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486400"/>
            <a:ext cx="10972800" cy="685800"/>
          </a:xfrm>
          <a:prstGeom prst="roundRect">
            <a:avLst/>
          </a:prstGeom>
          <a:solidFill>
            <a:srgbClr val="E6F0FA"/>
          </a:solidFill>
          <a:ln>
            <a:solidFill>
              <a:srgbClr val="2A6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5961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32323"/>
                </a:solidFill>
                <a:latin typeface="Aptos"/>
              </a:rPr>
              <a:t>Suggested follow-up: ask students to write a program that inputs two integers and prints their sum, product and whether the first is larger.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7335" y="66385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1636</Words>
  <Application>Microsoft Office PowerPoint</Application>
  <PresentationFormat>Widescreen</PresentationFormat>
  <Paragraphs>203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CTS</cp:lastModifiedBy>
  <cp:revision>1</cp:revision>
  <dcterms:modified xsi:type="dcterms:W3CDTF">2026-03-05T12:56:50Z</dcterms:modified>
</cp:coreProperties>
</file>